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045296-8574-411B-BE10-C25041D92E8D}" v="33" dt="2026-02-06T08:42:34.5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irami S" userId="9edad686b773bb89" providerId="LiveId" clId="{D2949767-46EA-44B9-B870-16CA7A33633F}"/>
    <pc:docChg chg="undo custSel addSld modSld">
      <pc:chgData name="Abirami S" userId="9edad686b773bb89" providerId="LiveId" clId="{D2949767-46EA-44B9-B870-16CA7A33633F}" dt="2026-02-06T08:43:00.611" v="254" actId="12"/>
      <pc:docMkLst>
        <pc:docMk/>
      </pc:docMkLst>
      <pc:sldChg chg="modSp mod">
        <pc:chgData name="Abirami S" userId="9edad686b773bb89" providerId="LiveId" clId="{D2949767-46EA-44B9-B870-16CA7A33633F}" dt="2026-02-06T07:21:03.458" v="33" actId="20577"/>
        <pc:sldMkLst>
          <pc:docMk/>
          <pc:sldMk cId="3398110465" sldId="256"/>
        </pc:sldMkLst>
        <pc:spChg chg="mod">
          <ac:chgData name="Abirami S" userId="9edad686b773bb89" providerId="LiveId" clId="{D2949767-46EA-44B9-B870-16CA7A33633F}" dt="2026-02-06T07:21:03.458" v="33" actId="20577"/>
          <ac:spMkLst>
            <pc:docMk/>
            <pc:sldMk cId="3398110465" sldId="256"/>
            <ac:spMk id="3" creationId="{0AD10428-7EC4-CA75-195C-9D9E39F9375E}"/>
          </ac:spMkLst>
        </pc:spChg>
      </pc:sldChg>
      <pc:sldChg chg="addSp delSp modSp mod">
        <pc:chgData name="Abirami S" userId="9edad686b773bb89" providerId="LiveId" clId="{D2949767-46EA-44B9-B870-16CA7A33633F}" dt="2026-02-06T07:22:25.828" v="36" actId="20577"/>
        <pc:sldMkLst>
          <pc:docMk/>
          <pc:sldMk cId="295898210" sldId="258"/>
        </pc:sldMkLst>
        <pc:spChg chg="mod">
          <ac:chgData name="Abirami S" userId="9edad686b773bb89" providerId="LiveId" clId="{D2949767-46EA-44B9-B870-16CA7A33633F}" dt="2026-02-06T07:22:25.828" v="36" actId="20577"/>
          <ac:spMkLst>
            <pc:docMk/>
            <pc:sldMk cId="295898210" sldId="258"/>
            <ac:spMk id="2" creationId="{A7CA5991-2C1E-7B98-F782-2C7FDA32D38E}"/>
          </ac:spMkLst>
        </pc:spChg>
        <pc:spChg chg="mod">
          <ac:chgData name="Abirami S" userId="9edad686b773bb89" providerId="LiveId" clId="{D2949767-46EA-44B9-B870-16CA7A33633F}" dt="2026-02-06T07:19:19.567" v="12" actId="27636"/>
          <ac:spMkLst>
            <pc:docMk/>
            <pc:sldMk cId="295898210" sldId="258"/>
            <ac:spMk id="3" creationId="{2CF3B21B-A014-9FFB-EC72-4B400636D7E7}"/>
          </ac:spMkLst>
        </pc:spChg>
        <pc:spChg chg="add del mod">
          <ac:chgData name="Abirami S" userId="9edad686b773bb89" providerId="LiveId" clId="{D2949767-46EA-44B9-B870-16CA7A33633F}" dt="2026-02-06T07:18:54.929" v="7" actId="21"/>
          <ac:spMkLst>
            <pc:docMk/>
            <pc:sldMk cId="295898210" sldId="258"/>
            <ac:spMk id="5" creationId="{BFE76AF9-EFBB-083C-4CE6-995B17338FB5}"/>
          </ac:spMkLst>
        </pc:spChg>
        <pc:spChg chg="add mod">
          <ac:chgData name="Abirami S" userId="9edad686b773bb89" providerId="LiveId" clId="{D2949767-46EA-44B9-B870-16CA7A33633F}" dt="2026-02-06T07:19:49.666" v="20" actId="20577"/>
          <ac:spMkLst>
            <pc:docMk/>
            <pc:sldMk cId="295898210" sldId="258"/>
            <ac:spMk id="7" creationId="{8F54CB12-0832-381F-9923-E0505C68B3C4}"/>
          </ac:spMkLst>
        </pc:spChg>
      </pc:sldChg>
      <pc:sldChg chg="addSp modSp mod">
        <pc:chgData name="Abirami S" userId="9edad686b773bb89" providerId="LiveId" clId="{D2949767-46EA-44B9-B870-16CA7A33633F}" dt="2026-02-06T08:38:52.707" v="241" actId="20577"/>
        <pc:sldMkLst>
          <pc:docMk/>
          <pc:sldMk cId="3286652140" sldId="259"/>
        </pc:sldMkLst>
        <pc:spChg chg="mod">
          <ac:chgData name="Abirami S" userId="9edad686b773bb89" providerId="LiveId" clId="{D2949767-46EA-44B9-B870-16CA7A33633F}" dt="2026-02-06T07:52:16.201" v="109" actId="1076"/>
          <ac:spMkLst>
            <pc:docMk/>
            <pc:sldMk cId="3286652140" sldId="259"/>
            <ac:spMk id="2" creationId="{933A3A25-8BF5-86C5-ECD0-60995A5CB6EA}"/>
          </ac:spMkLst>
        </pc:spChg>
        <pc:spChg chg="mod">
          <ac:chgData name="Abirami S" userId="9edad686b773bb89" providerId="LiveId" clId="{D2949767-46EA-44B9-B870-16CA7A33633F}" dt="2026-02-06T08:38:52.707" v="241" actId="20577"/>
          <ac:spMkLst>
            <pc:docMk/>
            <pc:sldMk cId="3286652140" sldId="259"/>
            <ac:spMk id="3" creationId="{1814CBF2-1F09-A8AF-D3BD-19EE6CC35DE1}"/>
          </ac:spMkLst>
        </pc:spChg>
        <pc:spChg chg="add mod">
          <ac:chgData name="Abirami S" userId="9edad686b773bb89" providerId="LiveId" clId="{D2949767-46EA-44B9-B870-16CA7A33633F}" dt="2026-02-06T08:02:07.696" v="175" actId="1076"/>
          <ac:spMkLst>
            <pc:docMk/>
            <pc:sldMk cId="3286652140" sldId="259"/>
            <ac:spMk id="4" creationId="{3ABDB19C-B087-72FF-DF10-0F929C853309}"/>
          </ac:spMkLst>
        </pc:spChg>
        <pc:spChg chg="add mod">
          <ac:chgData name="Abirami S" userId="9edad686b773bb89" providerId="LiveId" clId="{D2949767-46EA-44B9-B870-16CA7A33633F}" dt="2026-02-06T07:56:56.219" v="152"/>
          <ac:spMkLst>
            <pc:docMk/>
            <pc:sldMk cId="3286652140" sldId="259"/>
            <ac:spMk id="5" creationId="{F669F58B-885F-F4E6-0F15-C0C250123C5F}"/>
          </ac:spMkLst>
        </pc:spChg>
      </pc:sldChg>
      <pc:sldChg chg="addSp delSp modSp new mod">
        <pc:chgData name="Abirami S" userId="9edad686b773bb89" providerId="LiveId" clId="{D2949767-46EA-44B9-B870-16CA7A33633F}" dt="2026-02-06T08:35:35.360" v="240" actId="1076"/>
        <pc:sldMkLst>
          <pc:docMk/>
          <pc:sldMk cId="2726518740" sldId="260"/>
        </pc:sldMkLst>
        <pc:spChg chg="mod">
          <ac:chgData name="Abirami S" userId="9edad686b773bb89" providerId="LiveId" clId="{D2949767-46EA-44B9-B870-16CA7A33633F}" dt="2026-02-06T08:34:52.798" v="230" actId="14100"/>
          <ac:spMkLst>
            <pc:docMk/>
            <pc:sldMk cId="2726518740" sldId="260"/>
            <ac:spMk id="2" creationId="{CA7A7076-C087-880A-E764-3F11EF92B050}"/>
          </ac:spMkLst>
        </pc:spChg>
        <pc:spChg chg="mod">
          <ac:chgData name="Abirami S" userId="9edad686b773bb89" providerId="LiveId" clId="{D2949767-46EA-44B9-B870-16CA7A33633F}" dt="2026-02-06T08:35:35.360" v="240" actId="1076"/>
          <ac:spMkLst>
            <pc:docMk/>
            <pc:sldMk cId="2726518740" sldId="260"/>
            <ac:spMk id="3" creationId="{CFC0BD4B-6040-CB4F-4C7E-E3EC4D0A6A24}"/>
          </ac:spMkLst>
        </pc:spChg>
        <pc:picChg chg="add del mod">
          <ac:chgData name="Abirami S" userId="9edad686b773bb89" providerId="LiveId" clId="{D2949767-46EA-44B9-B870-16CA7A33633F}" dt="2026-02-06T08:20:34.912" v="189" actId="931"/>
          <ac:picMkLst>
            <pc:docMk/>
            <pc:sldMk cId="2726518740" sldId="260"/>
            <ac:picMk id="5" creationId="{F67B337B-C2CD-F85B-FEAA-8FEA7BC553E1}"/>
          </ac:picMkLst>
        </pc:picChg>
      </pc:sldChg>
      <pc:sldChg chg="modSp new mod">
        <pc:chgData name="Abirami S" userId="9edad686b773bb89" providerId="LiveId" clId="{D2949767-46EA-44B9-B870-16CA7A33633F}" dt="2026-02-06T08:43:00.611" v="254" actId="12"/>
        <pc:sldMkLst>
          <pc:docMk/>
          <pc:sldMk cId="522897210" sldId="261"/>
        </pc:sldMkLst>
        <pc:spChg chg="mod">
          <ac:chgData name="Abirami S" userId="9edad686b773bb89" providerId="LiveId" clId="{D2949767-46EA-44B9-B870-16CA7A33633F}" dt="2026-02-06T08:42:34.500" v="247"/>
          <ac:spMkLst>
            <pc:docMk/>
            <pc:sldMk cId="522897210" sldId="261"/>
            <ac:spMk id="2" creationId="{29D203A2-37CE-AFB6-E219-22326ED8B9C7}"/>
          </ac:spMkLst>
        </pc:spChg>
        <pc:spChg chg="mod">
          <ac:chgData name="Abirami S" userId="9edad686b773bb89" providerId="LiveId" clId="{D2949767-46EA-44B9-B870-16CA7A33633F}" dt="2026-02-06T08:43:00.611" v="254" actId="12"/>
          <ac:spMkLst>
            <pc:docMk/>
            <pc:sldMk cId="522897210" sldId="261"/>
            <ac:spMk id="3" creationId="{27C516B1-4F09-ADE9-F0F1-82DAB0513FB5}"/>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2/6/2026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74CA9-C645-5A35-22C8-CEBE2B4D31B7}"/>
              </a:ext>
            </a:extLst>
          </p:cNvPr>
          <p:cNvSpPr>
            <a:spLocks noGrp="1"/>
          </p:cNvSpPr>
          <p:nvPr>
            <p:ph type="ctrTitle"/>
          </p:nvPr>
        </p:nvSpPr>
        <p:spPr/>
        <p:txBody>
          <a:bodyPr/>
          <a:lstStyle/>
          <a:p>
            <a:r>
              <a:rPr lang="en-IN" dirty="0"/>
              <a:t>Global Development Analysis</a:t>
            </a:r>
          </a:p>
        </p:txBody>
      </p:sp>
      <p:sp>
        <p:nvSpPr>
          <p:cNvPr id="3" name="Subtitle 2">
            <a:extLst>
              <a:ext uri="{FF2B5EF4-FFF2-40B4-BE49-F238E27FC236}">
                <a16:creationId xmlns:a16="http://schemas.microsoft.com/office/drawing/2014/main" id="{0AD10428-7EC4-CA75-195C-9D9E39F9375E}"/>
              </a:ext>
            </a:extLst>
          </p:cNvPr>
          <p:cNvSpPr>
            <a:spLocks noGrp="1"/>
          </p:cNvSpPr>
          <p:nvPr>
            <p:ph type="subTitle" idx="1"/>
          </p:nvPr>
        </p:nvSpPr>
        <p:spPr/>
        <p:txBody>
          <a:bodyPr/>
          <a:lstStyle/>
          <a:p>
            <a:r>
              <a:rPr lang="en-IN" dirty="0" err="1"/>
              <a:t>Analyzing</a:t>
            </a:r>
            <a:r>
              <a:rPr lang="en-IN" dirty="0"/>
              <a:t> Global GDP, Population, Literacy, Infant Mortality </a:t>
            </a:r>
          </a:p>
        </p:txBody>
      </p:sp>
    </p:spTree>
    <p:extLst>
      <p:ext uri="{BB962C8B-B14F-4D97-AF65-F5344CB8AC3E}">
        <p14:creationId xmlns:p14="http://schemas.microsoft.com/office/powerpoint/2010/main" val="3398110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9B63B-5C49-4F7E-F65C-6C6EE4D78F81}"/>
              </a:ext>
            </a:extLst>
          </p:cNvPr>
          <p:cNvSpPr>
            <a:spLocks noGrp="1"/>
          </p:cNvSpPr>
          <p:nvPr>
            <p:ph type="title"/>
          </p:nvPr>
        </p:nvSpPr>
        <p:spPr/>
        <p:txBody>
          <a:bodyPr/>
          <a:lstStyle/>
          <a:p>
            <a:r>
              <a:rPr lang="en-IN" dirty="0"/>
              <a:t>Project Overview and Data Import and Cleaning</a:t>
            </a:r>
          </a:p>
        </p:txBody>
      </p:sp>
      <p:sp>
        <p:nvSpPr>
          <p:cNvPr id="3" name="Content Placeholder 2">
            <a:extLst>
              <a:ext uri="{FF2B5EF4-FFF2-40B4-BE49-F238E27FC236}">
                <a16:creationId xmlns:a16="http://schemas.microsoft.com/office/drawing/2014/main" id="{947C646C-B9A1-F521-DB01-8F1BC5ABDCB5}"/>
              </a:ext>
            </a:extLst>
          </p:cNvPr>
          <p:cNvSpPr>
            <a:spLocks noGrp="1"/>
          </p:cNvSpPr>
          <p:nvPr>
            <p:ph idx="1"/>
          </p:nvPr>
        </p:nvSpPr>
        <p:spPr>
          <a:xfrm>
            <a:off x="685801" y="2142067"/>
            <a:ext cx="10131425" cy="1286933"/>
          </a:xfrm>
        </p:spPr>
        <p:txBody>
          <a:bodyPr/>
          <a:lstStyle/>
          <a:p>
            <a:pPr>
              <a:buFont typeface="Wingdings" panose="05000000000000000000" pitchFamily="2" charset="2"/>
              <a:buChar char="Ø"/>
            </a:pPr>
            <a:r>
              <a:rPr lang="en-US" dirty="0"/>
              <a:t>This project analyzes global development indicators such as population, GDP per capita, literacy rate, and infant mortality across countries and regions. The purpose is to understand global development trends and regional differences in economic, educational, and health conditions.</a:t>
            </a:r>
            <a:endParaRPr lang="en-IN" dirty="0"/>
          </a:p>
        </p:txBody>
      </p:sp>
      <p:sp>
        <p:nvSpPr>
          <p:cNvPr id="5" name="TextBox 4">
            <a:extLst>
              <a:ext uri="{FF2B5EF4-FFF2-40B4-BE49-F238E27FC236}">
                <a16:creationId xmlns:a16="http://schemas.microsoft.com/office/drawing/2014/main" id="{349381CB-90E9-D41F-8C07-8E6DB470E885}"/>
              </a:ext>
            </a:extLst>
          </p:cNvPr>
          <p:cNvSpPr txBox="1"/>
          <p:nvPr/>
        </p:nvSpPr>
        <p:spPr>
          <a:xfrm>
            <a:off x="685801" y="3437187"/>
            <a:ext cx="10463980" cy="2585323"/>
          </a:xfrm>
          <a:prstGeom prst="rect">
            <a:avLst/>
          </a:prstGeom>
          <a:noFill/>
        </p:spPr>
        <p:txBody>
          <a:bodyPr wrap="square">
            <a:spAutoFit/>
          </a:bodyPr>
          <a:lstStyle/>
          <a:p>
            <a:pPr marL="285750" indent="-285750">
              <a:buFont typeface="Wingdings" panose="05000000000000000000" pitchFamily="2" charset="2"/>
              <a:buChar char="Ø"/>
            </a:pPr>
            <a:r>
              <a:rPr lang="en-US" dirty="0"/>
              <a:t>The datasets were first imported into Power BI for analysis. </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To ensure accuracy and consistency, the data was then cleaned by identifying and handling missing and null values. </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Country and region names were standardized to avoid duplication and mismatches across datasets.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Unnecessary columns were removed, and all numerical fields were converted into the correct data formats. This data preparation step improved the overall reliability and quality of the analysis.</a:t>
            </a:r>
            <a:endParaRPr lang="en-IN" dirty="0"/>
          </a:p>
        </p:txBody>
      </p:sp>
    </p:spTree>
    <p:extLst>
      <p:ext uri="{BB962C8B-B14F-4D97-AF65-F5344CB8AC3E}">
        <p14:creationId xmlns:p14="http://schemas.microsoft.com/office/powerpoint/2010/main" val="1620407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A5991-2C1E-7B98-F782-2C7FDA32D38E}"/>
              </a:ext>
            </a:extLst>
          </p:cNvPr>
          <p:cNvSpPr>
            <a:spLocks noGrp="1"/>
          </p:cNvSpPr>
          <p:nvPr>
            <p:ph type="title"/>
          </p:nvPr>
        </p:nvSpPr>
        <p:spPr>
          <a:xfrm>
            <a:off x="587479" y="432619"/>
            <a:ext cx="10131425" cy="1456267"/>
          </a:xfrm>
        </p:spPr>
        <p:txBody>
          <a:bodyPr/>
          <a:lstStyle/>
          <a:p>
            <a:r>
              <a:rPr lang="en-IN" dirty="0"/>
              <a:t>Data Analysis and integration &amp; Transformation</a:t>
            </a:r>
          </a:p>
        </p:txBody>
      </p:sp>
      <p:sp>
        <p:nvSpPr>
          <p:cNvPr id="3" name="Content Placeholder 2">
            <a:extLst>
              <a:ext uri="{FF2B5EF4-FFF2-40B4-BE49-F238E27FC236}">
                <a16:creationId xmlns:a16="http://schemas.microsoft.com/office/drawing/2014/main" id="{2CF3B21B-A014-9FFB-EC72-4B400636D7E7}"/>
              </a:ext>
            </a:extLst>
          </p:cNvPr>
          <p:cNvSpPr>
            <a:spLocks noGrp="1"/>
          </p:cNvSpPr>
          <p:nvPr>
            <p:ph idx="1"/>
          </p:nvPr>
        </p:nvSpPr>
        <p:spPr>
          <a:xfrm>
            <a:off x="865239" y="3775587"/>
            <a:ext cx="9951987" cy="2015613"/>
          </a:xfrm>
        </p:spPr>
        <p:txBody>
          <a:bodyPr>
            <a:normAutofit fontScale="92500" lnSpcReduction="10000"/>
          </a:bodyPr>
          <a:lstStyle/>
          <a:p>
            <a:pPr>
              <a:buFont typeface="Wingdings" panose="05000000000000000000" pitchFamily="2" charset="2"/>
              <a:buChar char="Ø"/>
            </a:pPr>
            <a:r>
              <a:rPr lang="en-US" dirty="0"/>
              <a:t>GDP and population datasets were merged using the country code to ensure accurate matching across countries. </a:t>
            </a:r>
          </a:p>
          <a:p>
            <a:pPr>
              <a:buFont typeface="Wingdings" panose="05000000000000000000" pitchFamily="2" charset="2"/>
              <a:buChar char="Ø"/>
            </a:pPr>
            <a:r>
              <a:rPr lang="en-US" dirty="0"/>
              <a:t>After merging, the year columns were unpivoted to convert the data into a structured, row-wise format. </a:t>
            </a:r>
          </a:p>
          <a:p>
            <a:pPr>
              <a:buFont typeface="Wingdings" panose="05000000000000000000" pitchFamily="2" charset="2"/>
              <a:buChar char="Ø"/>
            </a:pPr>
            <a:r>
              <a:rPr lang="en-US" dirty="0"/>
              <a:t>This unpivoting was done to make year-based analysis and filtering easier. </a:t>
            </a:r>
          </a:p>
          <a:p>
            <a:pPr>
              <a:buFont typeface="Wingdings" panose="05000000000000000000" pitchFamily="2" charset="2"/>
              <a:buChar char="Ø"/>
            </a:pPr>
            <a:r>
              <a:rPr lang="en-US" dirty="0"/>
              <a:t>After transformation, relationships were created between the tables to enable proper filtering and comparison across indicators during analysis.</a:t>
            </a:r>
            <a:endParaRPr lang="en-IN" dirty="0"/>
          </a:p>
        </p:txBody>
      </p:sp>
      <p:sp>
        <p:nvSpPr>
          <p:cNvPr id="7" name="TextBox 6">
            <a:extLst>
              <a:ext uri="{FF2B5EF4-FFF2-40B4-BE49-F238E27FC236}">
                <a16:creationId xmlns:a16="http://schemas.microsoft.com/office/drawing/2014/main" id="{8F54CB12-0832-381F-9923-E0505C68B3C4}"/>
              </a:ext>
            </a:extLst>
          </p:cNvPr>
          <p:cNvSpPr txBox="1"/>
          <p:nvPr/>
        </p:nvSpPr>
        <p:spPr>
          <a:xfrm>
            <a:off x="894735" y="1962995"/>
            <a:ext cx="10402529" cy="1754326"/>
          </a:xfrm>
          <a:prstGeom prst="rect">
            <a:avLst/>
          </a:prstGeom>
          <a:noFill/>
        </p:spPr>
        <p:txBody>
          <a:bodyPr wrap="square">
            <a:spAutoFit/>
          </a:bodyPr>
          <a:lstStyle/>
          <a:p>
            <a:pPr marL="285750" indent="-285750">
              <a:buFont typeface="Wingdings" panose="05000000000000000000" pitchFamily="2" charset="2"/>
              <a:buChar char="Ø"/>
            </a:pPr>
            <a:r>
              <a:rPr lang="en-US" dirty="0"/>
              <a:t>The data was analyzed to compare population and GDP per capita across countries and regions. </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Trends over time were examined to understand changes in population growth and economic development. </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Relationships between GDP per capita, literacy rate, and infant mortality were also analyzed to identify global development patterns.</a:t>
            </a:r>
            <a:endParaRPr lang="en-IN" dirty="0"/>
          </a:p>
        </p:txBody>
      </p:sp>
    </p:spTree>
    <p:extLst>
      <p:ext uri="{BB962C8B-B14F-4D97-AF65-F5344CB8AC3E}">
        <p14:creationId xmlns:p14="http://schemas.microsoft.com/office/powerpoint/2010/main" val="295898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3A25-8BF5-86C5-ECD0-60995A5CB6EA}"/>
              </a:ext>
            </a:extLst>
          </p:cNvPr>
          <p:cNvSpPr>
            <a:spLocks noGrp="1"/>
          </p:cNvSpPr>
          <p:nvPr>
            <p:ph type="title"/>
          </p:nvPr>
        </p:nvSpPr>
        <p:spPr>
          <a:xfrm>
            <a:off x="685800" y="344130"/>
            <a:ext cx="10131425" cy="1456267"/>
          </a:xfrm>
        </p:spPr>
        <p:txBody>
          <a:bodyPr/>
          <a:lstStyle/>
          <a:p>
            <a:r>
              <a:rPr lang="en-IN" dirty="0"/>
              <a:t>Descriptive Statistics and </a:t>
            </a:r>
            <a:r>
              <a:rPr lang="en-IN" dirty="0" err="1"/>
              <a:t>dax</a:t>
            </a:r>
            <a:r>
              <a:rPr lang="en-IN" dirty="0"/>
              <a:t> query</a:t>
            </a:r>
          </a:p>
        </p:txBody>
      </p:sp>
      <p:sp>
        <p:nvSpPr>
          <p:cNvPr id="3" name="Content Placeholder 2">
            <a:extLst>
              <a:ext uri="{FF2B5EF4-FFF2-40B4-BE49-F238E27FC236}">
                <a16:creationId xmlns:a16="http://schemas.microsoft.com/office/drawing/2014/main" id="{1814CBF2-1F09-A8AF-D3BD-19EE6CC35DE1}"/>
              </a:ext>
            </a:extLst>
          </p:cNvPr>
          <p:cNvSpPr>
            <a:spLocks noGrp="1"/>
          </p:cNvSpPr>
          <p:nvPr>
            <p:ph idx="1"/>
          </p:nvPr>
        </p:nvSpPr>
        <p:spPr>
          <a:xfrm>
            <a:off x="882446" y="2062315"/>
            <a:ext cx="10131425" cy="3812458"/>
          </a:xfrm>
        </p:spPr>
        <p:txBody>
          <a:bodyPr>
            <a:noAutofit/>
          </a:bodyPr>
          <a:lstStyle/>
          <a:p>
            <a:pPr>
              <a:buFont typeface="Wingdings" panose="05000000000000000000" pitchFamily="2" charset="2"/>
              <a:buChar char="Ø"/>
            </a:pPr>
            <a:r>
              <a:rPr lang="en-US" sz="1600" dirty="0"/>
              <a:t>Basic descriptive statistics were used to summarize the data. Measures such as average, minimum, maximum, and standard deviation were applied to population, GDP per capita, infant mortality, and literacy rate. These statistics helped understand the overall distribution of values and supported relationship analysis between key indicators. </a:t>
            </a:r>
          </a:p>
          <a:p>
            <a:pPr>
              <a:buFont typeface="Wingdings" panose="05000000000000000000" pitchFamily="2" charset="2"/>
              <a:buChar char="Ø"/>
            </a:pPr>
            <a:r>
              <a:rPr lang="en-US" sz="1600" dirty="0"/>
              <a:t>DAX queries were used to create calculated measures required for analysis. These measures were applied to calculate averages and totals. DAX helped in building KPI values and enabled dynamic filtering across the visuals.</a:t>
            </a:r>
          </a:p>
          <a:p>
            <a:pPr>
              <a:buFont typeface="Wingdings" panose="05000000000000000000" pitchFamily="2" charset="2"/>
              <a:buChar char="Ø"/>
            </a:pPr>
            <a:r>
              <a:rPr lang="en-IN" sz="1600" b="1" dirty="0"/>
              <a:t>Sample DAX Measures Used:</a:t>
            </a:r>
          </a:p>
          <a:p>
            <a:pPr>
              <a:buFont typeface="Wingdings" panose="05000000000000000000" pitchFamily="2" charset="2"/>
              <a:buChar char="Ø"/>
            </a:pPr>
            <a:endParaRPr lang="en-IN" sz="1600" b="1" dirty="0"/>
          </a:p>
          <a:p>
            <a:pPr>
              <a:buFont typeface="Wingdings" panose="05000000000000000000" pitchFamily="2" charset="2"/>
              <a:buChar char="Ø"/>
            </a:pPr>
            <a:endParaRPr lang="en-US" sz="1600" b="1" dirty="0"/>
          </a:p>
          <a:p>
            <a:pPr>
              <a:buFont typeface="Wingdings" panose="05000000000000000000" pitchFamily="2" charset="2"/>
              <a:buChar char="ü"/>
            </a:pPr>
            <a:endParaRPr lang="en-IN" sz="1600" dirty="0">
              <a:solidFill>
                <a:srgbClr val="92D050"/>
              </a:solidFill>
            </a:endParaRPr>
          </a:p>
          <a:p>
            <a:endParaRPr lang="en-US" sz="1600" dirty="0">
              <a:solidFill>
                <a:srgbClr val="92D050"/>
              </a:solidFill>
            </a:endParaRPr>
          </a:p>
          <a:p>
            <a:pPr>
              <a:buFont typeface="Wingdings" panose="05000000000000000000" pitchFamily="2" charset="2"/>
              <a:buChar char="Ø"/>
            </a:pPr>
            <a:endParaRPr lang="en-US" sz="1600" dirty="0"/>
          </a:p>
          <a:p>
            <a:endParaRPr lang="en-IN" sz="1600" dirty="0"/>
          </a:p>
        </p:txBody>
      </p:sp>
      <p:sp>
        <p:nvSpPr>
          <p:cNvPr id="4" name="Rectangle 1">
            <a:extLst>
              <a:ext uri="{FF2B5EF4-FFF2-40B4-BE49-F238E27FC236}">
                <a16:creationId xmlns:a16="http://schemas.microsoft.com/office/drawing/2014/main" id="{3ABDB19C-B087-72FF-DF10-0F929C853309}"/>
              </a:ext>
            </a:extLst>
          </p:cNvPr>
          <p:cNvSpPr>
            <a:spLocks noChangeArrowheads="1"/>
          </p:cNvSpPr>
          <p:nvPr/>
        </p:nvSpPr>
        <p:spPr bwMode="auto">
          <a:xfrm>
            <a:off x="1386348" y="4023118"/>
            <a:ext cx="657778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200" b="1" i="0" u="none" strike="noStrike" cap="none" normalizeH="0" baseline="0" dirty="0">
                <a:ln>
                  <a:noFill/>
                </a:ln>
                <a:solidFill>
                  <a:srgbClr val="92D050"/>
                </a:solidFill>
                <a:effectLst/>
                <a:latin typeface="Arial" panose="020B0604020202020204" pitchFamily="34" charset="0"/>
                <a:cs typeface="Arial" panose="020B0604020202020204" pitchFamily="34" charset="0"/>
              </a:rPr>
              <a:t>GDP per Capita = </a:t>
            </a:r>
            <a:r>
              <a:rPr kumimoji="0" lang="en-US" altLang="en-US" sz="1200" i="0" u="none" strike="noStrike" cap="none" normalizeH="0" baseline="0" dirty="0">
                <a:ln>
                  <a:noFill/>
                </a:ln>
                <a:solidFill>
                  <a:srgbClr val="92D050"/>
                </a:solidFill>
                <a:effectLst/>
                <a:latin typeface="Arial" panose="020B0604020202020204" pitchFamily="34" charset="0"/>
                <a:cs typeface="Arial" panose="020B0604020202020204" pitchFamily="34" charset="0"/>
              </a:rPr>
              <a:t>DIVIDE(Merge1[GDP], Merge1[POPULATION], 0)</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1" i="0" u="none" strike="noStrike" cap="none" normalizeH="0" baseline="0" dirty="0">
              <a:ln>
                <a:noFill/>
              </a:ln>
              <a:solidFill>
                <a:srgbClr val="92D050"/>
              </a:solidFill>
              <a:effectLst/>
              <a:latin typeface="Arial" panose="020B0604020202020204" pitchFamily="34" charset="0"/>
              <a:cs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200" b="1" i="0" u="none" strike="noStrike" cap="none" normalizeH="0" baseline="0" dirty="0">
                <a:ln>
                  <a:noFill/>
                </a:ln>
                <a:solidFill>
                  <a:srgbClr val="92D050"/>
                </a:solidFill>
                <a:effectLst/>
                <a:latin typeface="Arial" panose="020B0604020202020204" pitchFamily="34" charset="0"/>
                <a:cs typeface="Arial" panose="020B0604020202020204" pitchFamily="34" charset="0"/>
              </a:rPr>
              <a:t>Average GDP per Capita = </a:t>
            </a:r>
            <a:r>
              <a:rPr kumimoji="0" lang="en-US" altLang="en-US" sz="1200" i="0" u="none" strike="noStrike" cap="none" normalizeH="0" baseline="0" dirty="0">
                <a:ln>
                  <a:noFill/>
                </a:ln>
                <a:solidFill>
                  <a:srgbClr val="92D050"/>
                </a:solidFill>
                <a:effectLst/>
                <a:latin typeface="Arial" panose="020B0604020202020204" pitchFamily="34" charset="0"/>
                <a:cs typeface="Arial" panose="020B0604020202020204" pitchFamily="34" charset="0"/>
              </a:rPr>
              <a:t>AVERAGE(Merge1[GDP])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1" i="0" u="none" strike="noStrike" cap="none" normalizeH="0" baseline="0" dirty="0">
              <a:ln>
                <a:noFill/>
              </a:ln>
              <a:solidFill>
                <a:srgbClr val="92D050"/>
              </a:solidFill>
              <a:effectLst/>
              <a:latin typeface="Arial" panose="020B0604020202020204" pitchFamily="34" charset="0"/>
              <a:cs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200" b="1" i="0" u="none" strike="noStrike" cap="none" normalizeH="0" baseline="0" dirty="0">
                <a:ln>
                  <a:noFill/>
                </a:ln>
                <a:solidFill>
                  <a:srgbClr val="92D050"/>
                </a:solidFill>
                <a:effectLst/>
                <a:latin typeface="Arial" panose="020B0604020202020204" pitchFamily="34" charset="0"/>
                <a:cs typeface="Arial" panose="020B0604020202020204" pitchFamily="34" charset="0"/>
              </a:rPr>
              <a:t>Average Literacy Rate = </a:t>
            </a:r>
            <a:r>
              <a:rPr kumimoji="0" lang="en-US" altLang="en-US" sz="1200" i="0" u="none" strike="noStrike" cap="none" normalizeH="0" baseline="0" dirty="0">
                <a:ln>
                  <a:noFill/>
                </a:ln>
                <a:solidFill>
                  <a:srgbClr val="92D050"/>
                </a:solidFill>
                <a:effectLst/>
                <a:latin typeface="Arial" panose="020B0604020202020204" pitchFamily="34" charset="0"/>
                <a:cs typeface="Arial" panose="020B0604020202020204" pitchFamily="34" charset="0"/>
              </a:rPr>
              <a:t>AVERAGE('countries of the world'[LITERACY (%)])</a:t>
            </a:r>
          </a:p>
        </p:txBody>
      </p:sp>
    </p:spTree>
    <p:extLst>
      <p:ext uri="{BB962C8B-B14F-4D97-AF65-F5344CB8AC3E}">
        <p14:creationId xmlns:p14="http://schemas.microsoft.com/office/powerpoint/2010/main" val="3286652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A7076-C087-880A-E764-3F11EF92B050}"/>
              </a:ext>
            </a:extLst>
          </p:cNvPr>
          <p:cNvSpPr>
            <a:spLocks noGrp="1"/>
          </p:cNvSpPr>
          <p:nvPr>
            <p:ph type="title"/>
          </p:nvPr>
        </p:nvSpPr>
        <p:spPr>
          <a:xfrm>
            <a:off x="685801" y="1032387"/>
            <a:ext cx="10131425" cy="1033480"/>
          </a:xfrm>
        </p:spPr>
        <p:txBody>
          <a:bodyPr/>
          <a:lstStyle/>
          <a:p>
            <a:r>
              <a:rPr lang="en-IN" dirty="0"/>
              <a:t>Visualization and Navigation</a:t>
            </a:r>
          </a:p>
        </p:txBody>
      </p:sp>
      <p:sp>
        <p:nvSpPr>
          <p:cNvPr id="3" name="Content Placeholder 2">
            <a:extLst>
              <a:ext uri="{FF2B5EF4-FFF2-40B4-BE49-F238E27FC236}">
                <a16:creationId xmlns:a16="http://schemas.microsoft.com/office/drawing/2014/main" id="{CFC0BD4B-6040-CB4F-4C7E-E3EC4D0A6A24}"/>
              </a:ext>
            </a:extLst>
          </p:cNvPr>
          <p:cNvSpPr>
            <a:spLocks noGrp="1"/>
          </p:cNvSpPr>
          <p:nvPr>
            <p:ph idx="1"/>
          </p:nvPr>
        </p:nvSpPr>
        <p:spPr>
          <a:xfrm>
            <a:off x="990601" y="2191228"/>
            <a:ext cx="10719619" cy="3472151"/>
          </a:xfrm>
        </p:spPr>
        <p:txBody>
          <a:bodyPr>
            <a:normAutofit fontScale="92500" lnSpcReduction="10000"/>
          </a:bodyPr>
          <a:lstStyle/>
          <a:p>
            <a:pPr>
              <a:buFont typeface="Wingdings" panose="05000000000000000000" pitchFamily="2" charset="2"/>
              <a:buChar char="Ø"/>
            </a:pPr>
            <a:r>
              <a:rPr lang="en-US" dirty="0"/>
              <a:t>KPI cards show key values like GDP, population, literacy, and infant mortality.</a:t>
            </a:r>
          </a:p>
          <a:p>
            <a:pPr>
              <a:buFont typeface="Wingdings" panose="05000000000000000000" pitchFamily="2" charset="2"/>
              <a:buChar char="Ø"/>
            </a:pPr>
            <a:endParaRPr lang="en-US" dirty="0"/>
          </a:p>
          <a:p>
            <a:pPr>
              <a:buFont typeface="Wingdings" panose="05000000000000000000" pitchFamily="2" charset="2"/>
              <a:buChar char="Ø"/>
            </a:pPr>
            <a:r>
              <a:rPr lang="en-US" dirty="0"/>
              <a:t>Maps help understand country and region-wise distribution.</a:t>
            </a:r>
          </a:p>
          <a:p>
            <a:pPr>
              <a:buFont typeface="Wingdings" panose="05000000000000000000" pitchFamily="2" charset="2"/>
              <a:buChar char="Ø"/>
            </a:pPr>
            <a:endParaRPr lang="en-US" dirty="0"/>
          </a:p>
          <a:p>
            <a:pPr>
              <a:buFont typeface="Wingdings" panose="05000000000000000000" pitchFamily="2" charset="2"/>
              <a:buChar char="Ø"/>
            </a:pPr>
            <a:r>
              <a:rPr lang="en-US" dirty="0"/>
              <a:t>Line charts show trends over time, while bar charts compare values across countries and regions.</a:t>
            </a:r>
          </a:p>
          <a:p>
            <a:pPr>
              <a:buFont typeface="Wingdings" panose="05000000000000000000" pitchFamily="2" charset="2"/>
              <a:buChar char="Ø"/>
            </a:pPr>
            <a:endParaRPr lang="en-US" dirty="0"/>
          </a:p>
          <a:p>
            <a:pPr>
              <a:buFont typeface="Wingdings" panose="05000000000000000000" pitchFamily="2" charset="2"/>
              <a:buChar char="Ø"/>
            </a:pPr>
            <a:r>
              <a:rPr lang="en-US" dirty="0"/>
              <a:t>Pie and donut charts show region-wise contribution clearly.</a:t>
            </a:r>
          </a:p>
          <a:p>
            <a:pPr>
              <a:buFont typeface="Wingdings" panose="05000000000000000000" pitchFamily="2" charset="2"/>
              <a:buChar char="Ø"/>
            </a:pPr>
            <a:endParaRPr lang="en-US" dirty="0"/>
          </a:p>
          <a:p>
            <a:pPr>
              <a:buFont typeface="Wingdings" panose="05000000000000000000" pitchFamily="2" charset="2"/>
              <a:buChar char="Ø"/>
            </a:pPr>
            <a:r>
              <a:rPr lang="en-US" dirty="0"/>
              <a:t>Page navigation buttons and filter slicers are used to move easily between different sections and to filter data by year, country, and region.</a:t>
            </a:r>
            <a:endParaRPr lang="en-IN" dirty="0"/>
          </a:p>
        </p:txBody>
      </p:sp>
    </p:spTree>
    <p:extLst>
      <p:ext uri="{BB962C8B-B14F-4D97-AF65-F5344CB8AC3E}">
        <p14:creationId xmlns:p14="http://schemas.microsoft.com/office/powerpoint/2010/main" val="2726518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203A2-37CE-AFB6-E219-22326ED8B9C7}"/>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27C516B1-4F09-ADE9-F0F1-82DAB0513FB5}"/>
              </a:ext>
            </a:extLst>
          </p:cNvPr>
          <p:cNvSpPr>
            <a:spLocks noGrp="1"/>
          </p:cNvSpPr>
          <p:nvPr>
            <p:ph idx="1"/>
          </p:nvPr>
        </p:nvSpPr>
        <p:spPr>
          <a:xfrm>
            <a:off x="685801" y="2065867"/>
            <a:ext cx="9687231" cy="2726267"/>
          </a:xfrm>
        </p:spPr>
        <p:txBody>
          <a:bodyPr/>
          <a:lstStyle/>
          <a:p>
            <a:pPr>
              <a:buFont typeface="Wingdings" panose="05000000000000000000" pitchFamily="2" charset="2"/>
              <a:buChar char="Ø"/>
            </a:pPr>
            <a:r>
              <a:rPr lang="en-US" dirty="0"/>
              <a:t>This project analyzes global data to understand differences in population, economy, education, and health across countries and regions. Simple visuals are used to make the data easy to understand and compare. </a:t>
            </a:r>
          </a:p>
          <a:p>
            <a:endParaRPr lang="en-US" dirty="0"/>
          </a:p>
          <a:p>
            <a:pPr>
              <a:buFont typeface="Wingdings" panose="05000000000000000000" pitchFamily="2" charset="2"/>
              <a:buChar char="Ø"/>
            </a:pPr>
            <a:r>
              <a:rPr lang="en-US" dirty="0"/>
              <a:t>Overall, the project helps identify key global development patterns clearly.</a:t>
            </a:r>
            <a:endParaRPr lang="en-IN" dirty="0"/>
          </a:p>
        </p:txBody>
      </p:sp>
    </p:spTree>
    <p:extLst>
      <p:ext uri="{BB962C8B-B14F-4D97-AF65-F5344CB8AC3E}">
        <p14:creationId xmlns:p14="http://schemas.microsoft.com/office/powerpoint/2010/main" val="5228972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{39D1D10A-31A4-440B-BE5C-714478B86535}TFb5ae2469-0bae-4978-b0e0-39dd046150ff9a115ede-a9c3cc5252b0</Template>
  <TotalTime>109</TotalTime>
  <Words>536</Words>
  <Application>Microsoft Office PowerPoint</Application>
  <PresentationFormat>Widescreen</PresentationFormat>
  <Paragraphs>48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Wingdings</vt:lpstr>
      <vt:lpstr>Celestial</vt:lpstr>
      <vt:lpstr>Global Development Analysis</vt:lpstr>
      <vt:lpstr>Project Overview and Data Import and Cleaning</vt:lpstr>
      <vt:lpstr>Data Analysis and integration &amp; Transformation</vt:lpstr>
      <vt:lpstr>Descriptive Statistics and dax query</vt:lpstr>
      <vt:lpstr>Visualization and Navigation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Abirami S</dc:creator>
  <cp:lastModifiedBy>Abirami S</cp:lastModifiedBy>
  <cp:revision>1</cp:revision>
  <dcterms:created xsi:type="dcterms:W3CDTF">2026-02-06T06:53:58Z</dcterms:created>
  <dcterms:modified xsi:type="dcterms:W3CDTF">2026-02-06T08:43:02Z</dcterms:modified>
</cp:coreProperties>
</file>